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8c0157b1d4994" /><Relationship Type="http://schemas.openxmlformats.org/officeDocument/2006/relationships/extended-properties" Target="/docProps/app.xml" Id="R69c0d1f0987c4977" /><Relationship Type="http://schemas.openxmlformats.org/officeDocument/2006/relationships/officeDocument" Target="/ppt/presentation.xml" Id="R8fbe6bd89339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a009791994232"/>
  </p:sldMasterIdLst>
  <p:notesMasterIdLst>
    <p:notesMasterId xmlns:r="http://schemas.openxmlformats.org/officeDocument/2006/relationships" r:id="Rde9790b393044af3"/>
  </p:notesMasterIdLst>
  <p:sldIdLst>
    <p:sldId xmlns:r="http://schemas.openxmlformats.org/officeDocument/2006/relationships" id="256" r:id="R8616cadf91364738"/>
    <p:sldId xmlns:r="http://schemas.openxmlformats.org/officeDocument/2006/relationships" id="257" r:id="R4386f0f5cbc844ac"/>
    <p:sldId xmlns:r="http://schemas.openxmlformats.org/officeDocument/2006/relationships" id="258" r:id="R101bdce8c7714024"/>
    <p:sldId xmlns:r="http://schemas.openxmlformats.org/officeDocument/2006/relationships" id="259" r:id="Ra193c8ffb4ee46cc"/>
    <p:sldId xmlns:r="http://schemas.openxmlformats.org/officeDocument/2006/relationships" id="260" r:id="Rd050b14296614500"/>
    <p:sldId xmlns:r="http://schemas.openxmlformats.org/officeDocument/2006/relationships" id="261" r:id="R7117728c9c554a05"/>
    <p:sldId xmlns:r="http://schemas.openxmlformats.org/officeDocument/2006/relationships" id="262" r:id="R459db6186e1d4298"/>
    <p:sldId xmlns:r="http://schemas.openxmlformats.org/officeDocument/2006/relationships" id="263" r:id="R09f4ad18ff854731"/>
    <p:sldId xmlns:r="http://schemas.openxmlformats.org/officeDocument/2006/relationships" id="264" r:id="R4ed1afcfa1f848bd"/>
    <p:sldId xmlns:r="http://schemas.openxmlformats.org/officeDocument/2006/relationships" id="265" r:id="Rf7509ba023c04fb3"/>
    <p:sldId xmlns:r="http://schemas.openxmlformats.org/officeDocument/2006/relationships" id="266" r:id="R5c0d8429ceb14491"/>
    <p:sldId xmlns:r="http://schemas.openxmlformats.org/officeDocument/2006/relationships" id="267" r:id="Rc3382dfa564b4b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a00d7e6c394929" /><Relationship Type="http://schemas.openxmlformats.org/officeDocument/2006/relationships/slideMaster" Target="/ppt/slideMasters/slideMaster1.xml" Id="R0ada009791994232" /><Relationship Type="http://schemas.openxmlformats.org/officeDocument/2006/relationships/notesMaster" Target="/ppt/notesMasters/notesMaster1.xml" Id="Rde9790b393044af3" /><Relationship Type="http://schemas.openxmlformats.org/officeDocument/2006/relationships/presProps" Target="/ppt/presProps.xml" Id="Rf61f509d845144c4" /><Relationship Type="http://schemas.openxmlformats.org/officeDocument/2006/relationships/tableStyles" Target="/ppt/tableStyles.xml" Id="Re406b7c681e74103" /><Relationship Type="http://schemas.openxmlformats.org/officeDocument/2006/relationships/slide" Target="/ppt/slides/slide1.xml" Id="R8616cadf91364738" /><Relationship Type="http://schemas.openxmlformats.org/officeDocument/2006/relationships/slide" Target="/ppt/slides/slide2.xml" Id="R4386f0f5cbc844ac" /><Relationship Type="http://schemas.openxmlformats.org/officeDocument/2006/relationships/slide" Target="/ppt/slides/slide3.xml" Id="R101bdce8c7714024" /><Relationship Type="http://schemas.openxmlformats.org/officeDocument/2006/relationships/slide" Target="/ppt/slides/slide4.xml" Id="Ra193c8ffb4ee46cc" /><Relationship Type="http://schemas.openxmlformats.org/officeDocument/2006/relationships/slide" Target="/ppt/slides/slide5.xml" Id="Rd050b14296614500" /><Relationship Type="http://schemas.openxmlformats.org/officeDocument/2006/relationships/slide" Target="/ppt/slides/slide6.xml" Id="R7117728c9c554a05" /><Relationship Type="http://schemas.openxmlformats.org/officeDocument/2006/relationships/slide" Target="/ppt/slides/slide7.xml" Id="R459db6186e1d4298" /><Relationship Type="http://schemas.openxmlformats.org/officeDocument/2006/relationships/slide" Target="/ppt/slides/slide8.xml" Id="R09f4ad18ff854731" /><Relationship Type="http://schemas.openxmlformats.org/officeDocument/2006/relationships/slide" Target="/ppt/slides/slide9.xml" Id="R4ed1afcfa1f848bd" /><Relationship Type="http://schemas.openxmlformats.org/officeDocument/2006/relationships/slide" Target="/ppt/slides/slide10.xml" Id="Rf7509ba023c04fb3" /><Relationship Type="http://schemas.openxmlformats.org/officeDocument/2006/relationships/slide" Target="/ppt/slides/slide11.xml" Id="R5c0d8429ceb14491" /><Relationship Type="http://schemas.openxmlformats.org/officeDocument/2006/relationships/slide" Target="/ppt/slides/slide12.xml" Id="Rc3382dfa564b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0d1516056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513ed828d4296" /><Relationship Type="http://schemas.openxmlformats.org/officeDocument/2006/relationships/notesMaster" Target="/ppt/notesMasters/notesMaster1.xml" Id="R867d89c61622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4e2ecbe7d84af9" /><Relationship Type="http://schemas.openxmlformats.org/officeDocument/2006/relationships/notesMaster" Target="/ppt/notesMasters/notesMaster1.xml" Id="R9082913f35a24c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0af4efc87047a7" /><Relationship Type="http://schemas.openxmlformats.org/officeDocument/2006/relationships/notesMaster" Target="/ppt/notesMasters/notesMaster1.xml" Id="Rf5239907132f4b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653e951fe4c9f" /><Relationship Type="http://schemas.openxmlformats.org/officeDocument/2006/relationships/notesMaster" Target="/ppt/notesMasters/notesMaster1.xml" Id="R9d9d41a396e2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7ceaa4ea541fe" /><Relationship Type="http://schemas.openxmlformats.org/officeDocument/2006/relationships/notesMaster" Target="/ppt/notesMasters/notesMaster1.xml" Id="R2a4564f918734d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745cab87d8499d" /><Relationship Type="http://schemas.openxmlformats.org/officeDocument/2006/relationships/notesMaster" Target="/ppt/notesMasters/notesMaster1.xml" Id="R5dac359c28f3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8a5612c82460c" /><Relationship Type="http://schemas.openxmlformats.org/officeDocument/2006/relationships/notesMaster" Target="/ppt/notesMasters/notesMaster1.xml" Id="R6a766eaa50a644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07fd8703434a8d" /><Relationship Type="http://schemas.openxmlformats.org/officeDocument/2006/relationships/notesMaster" Target="/ppt/notesMasters/notesMaster1.xml" Id="Re806e060cbe74b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c31adb4af64aa6" /><Relationship Type="http://schemas.openxmlformats.org/officeDocument/2006/relationships/notesMaster" Target="/ppt/notesMasters/notesMaster1.xml" Id="R880209e8832643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179d32633e4d88" /><Relationship Type="http://schemas.openxmlformats.org/officeDocument/2006/relationships/notesMaster" Target="/ppt/notesMasters/notesMaster1.xml" Id="R68de791570ef4d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c05d86b7f14a06" /><Relationship Type="http://schemas.openxmlformats.org/officeDocument/2006/relationships/notesMaster" Target="/ppt/notesMasters/notesMaster1.xml" Id="R70225785ce814f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60a0e90391480c" /><Relationship Type="http://schemas.openxmlformats.org/officeDocument/2006/relationships/notesMaster" Target="/ppt/notesMasters/notesMaster1.xml" Id="R7aa6fce91bc244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ce05ac05947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006d3389c4fa0" /><Relationship Type="http://schemas.openxmlformats.org/officeDocument/2006/relationships/slideLayout" Target="/ppt/slideLayouts/slideLayout1.xml" Id="Rf8f9878dc19240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9878dc19240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5cbebfbf2462b" /><Relationship Type="http://schemas.openxmlformats.org/officeDocument/2006/relationships/notesSlide" Target="/ppt/notesSlides/notesSlide1.xml" Id="R064808249b3b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d0e433e774875" /><Relationship Type="http://schemas.openxmlformats.org/officeDocument/2006/relationships/notesSlide" Target="/ppt/notesSlides/notesSlide2.xml" Id="R14a950916da6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82189d5774f18" /><Relationship Type="http://schemas.openxmlformats.org/officeDocument/2006/relationships/notesSlide" Target="/ppt/notesSlides/notesSlide3.xml" Id="R198f026d63b144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a140ca8c40df" /><Relationship Type="http://schemas.openxmlformats.org/officeDocument/2006/relationships/notesSlide" Target="/ppt/notesSlides/notesSlide4.xml" Id="R8fb2b312a4dd4d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da508d17645c4" /><Relationship Type="http://schemas.openxmlformats.org/officeDocument/2006/relationships/notesSlide" Target="/ppt/notesSlides/notesSlide5.xml" Id="Ra5d6045235c5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5712b18094ba0" /><Relationship Type="http://schemas.openxmlformats.org/officeDocument/2006/relationships/notesSlide" Target="/ppt/notesSlides/notesSlide6.xml" Id="R726761c3f813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c4b9902df4c68" /><Relationship Type="http://schemas.openxmlformats.org/officeDocument/2006/relationships/notesSlide" Target="/ppt/notesSlides/notesSlide7.xml" Id="R0c5b60228f4340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18d2a4427454f" /><Relationship Type="http://schemas.openxmlformats.org/officeDocument/2006/relationships/notesSlide" Target="/ppt/notesSlides/notesSlide8.xml" Id="R79b8902c45dc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ab8b02be741b0" /><Relationship Type="http://schemas.openxmlformats.org/officeDocument/2006/relationships/notesSlide" Target="/ppt/notesSlides/notesSlide9.xml" Id="R8e380841978547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38ffc351c406c" /><Relationship Type="http://schemas.openxmlformats.org/officeDocument/2006/relationships/notesSlide" Target="/ppt/notesSlides/notesSlide10.xml" Id="Rfee3a000e00a47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bf633a61c42e3" /><Relationship Type="http://schemas.openxmlformats.org/officeDocument/2006/relationships/notesSlide" Target="/ppt/notesSlides/notesSlide11.xml" Id="R2e75e4d788b54a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ad6736d3b48f0" /><Relationship Type="http://schemas.openxmlformats.org/officeDocument/2006/relationships/notesSlide" Target="/ppt/notesSlides/notesSlide12.xml" Id="Rb5e62133116347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DF06C-1B3D-43D1-B400-48E03EB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Spring Boot REST API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1B1B8-AC81-45F8-B8C5-A5A90BB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7524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5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Virtuber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5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주식 모의투자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CCD35-904B-4E0B-BD6F-B4936964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스프링의 기본 구조와 동작 원리를 복습하기 위한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작고 완결된 모의투자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390D-BC45-4FE2-B2CF-2A9659E4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0"/>
            <a:ext cx="3676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60626-6036-46B6-9856-B53EEA3E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38350"/>
            <a:ext cx="27241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 Service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 Repository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 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DC2CF-4068-4DEE-9500-2BAD23B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43450"/>
            <a:ext cx="270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JWT · JPA · Transaction · Lock · Scheduler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69982-D96A-4145-9836-E822A73E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799C8-8F47-4A5A-B2AB-5416829F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08621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DC4E75-5405-47D0-8EC4-B76F5B6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7B923-80C1-4E88-AC0B-AFC7549C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발표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EC4D9-4C25-40E9-933E-05CDCF0C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81F98-1790-46B4-B3D4-3A113302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A4456-2143-4C5F-B85A-6547D33D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0AFA3-31EF-4B56-9399-033D894A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4BB3A-E114-490A-91FF-656D748A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E538A-3E20-42CA-A53F-894122F1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왜 모의투자 API인가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4C2A4-191A-4C3D-B12F-99DF9B1A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A450A-DF81-4413-8A27-B190975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505B4-4FD9-4BFB-BCB2-1F730D29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9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Spring Boot, Security, JPA, 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86C7-6D46-44F3-8FCE-D6BDCD10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EA53E-920C-4F76-B93A-D6EBDA0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프로젝트 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E1CEF6-1274-4C46-8719-BCA42DD1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패키지와 계층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A21DF-B5D1-4D39-A510-5EE54C94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DB4AD-DEF0-42C6-810B-B0380DF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29E7C-DE8D-419F-A487-6E99B82E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사용자 흐름과 핵심 기능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AB357-B516-4F36-AE50-0F4A407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B5179-54F9-4D74-943D-F5FBD44A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526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주가 데이터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ACED7-FBD0-4EB7-A6DA-FCFE98F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14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목 데이터와 Scheduler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7DA571-6F69-4E62-A31B-03821229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396AA9-8D16-4F59-B6DF-E2B08729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인증 방식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184210-7748-4D45-B66C-BC014C2A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JWT와 Security Filter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5BC137-C45F-4AFA-962C-060F3BD0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0544C-8089-419B-A40F-84F54BD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43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도메인/API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224918-AB69-4348-8227-E36EAB26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05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엔티티와 10개 엔드포인트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AD72C-7691-4677-8604-2E07E17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A49A4C-828A-4373-8DD2-F9FDA2A4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38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정합성 처리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F7453-5E05-4479-BE23-A44CA740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00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트랜잭션과 비관적 락</a:t>
            </a:r>
          </a:p>
        </p:txBody>
      </p:sp>
    </p:spTree>
    <p:extLst>
      <p:ext uri="{BB962C8B-B14F-4D97-AF65-F5344CB8AC3E}">
        <p14:creationId xmlns:p14="http://schemas.microsoft.com/office/powerpoint/2010/main" val="118923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34D91-BC94-4624-8CD5-E0A3A3F2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1. 배경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A5DBB-76AC-4711-B0C9-D5DFC53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배경: 기본에 충실한 프로젝트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03A0A-BA2A-4EA5-B0E6-F7F80A81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7E210-2BA1-4D71-9D5B-A9BCB6A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F1D32-E590-42F3-9C72-DAA60EA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C3847-D3D6-4CCD-8C12-F1D907F6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목표는 화려한 기능보다 Spring의 기본 동작을 직접 연결해 보는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A504C-EF93-4421-ACCC-47EFFAAA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48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9D25A-FA73-45F9-998E-00EE7779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Spring 복습 프로젝트인가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00183-F529-4FAB-B1AF-7072F2A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419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Controller, Service, Repository 계층을 명확히 나눌 수 있음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요청 검증, 예외 처리, 공통 응답을 한 흐름에서 확인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인증/인가와 도메인 로직을 함께 다루기 좋음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FD7B8-D1B7-4C91-AFBE-9ACFF4CD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5048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9525">
            <a:solidFill>
              <a:srgbClr val="CFE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78DFA-24A9-4A4A-A997-CF7A4BFD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왜 모의투자인가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2588B-7880-4859-A184-D9ADFA19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4400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CRUD, 조회, 거래 생성, 초기화가 자연스럽게 포함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동시 매수/매도에서 잔고와 수량 정합성 문제가 발생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작은 MVP 안에서 트랜잭션 경계를 연습하기 좋음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70BCC-8607-4446-AA3C-31081943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19700"/>
            <a:ext cx="133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3FD9B-9784-46AA-B64F-66DBA0A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054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CRUD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2A53B-A666-485C-9D40-4D0D951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133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1281A-5036-4E7E-8D9E-52091C03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3054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A5BC2-15E5-4C33-929B-6B4C60D5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219700"/>
            <a:ext cx="1333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C0E43-32A6-4785-9654-500862B2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0542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JPA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F9911-770B-4CA2-B0F3-7F4B6D49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B559F-08C1-42F1-B724-DBBA00B3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054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Transaction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4FF0C-09F0-48B7-B3B1-0DCB22A8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1962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7E4AB-5260-41FD-B377-0029F960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05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Concurrency</a:t>
            </a:r>
          </a:p>
        </p:txBody>
      </p:sp>
    </p:spTree>
    <p:extLst>
      <p:ext uri="{BB962C8B-B14F-4D97-AF65-F5344CB8AC3E}">
        <p14:creationId xmlns:p14="http://schemas.microsoft.com/office/powerpoint/2010/main" val="886182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581BB-A8B5-456C-B608-45720BDE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2. 학습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18A78-FA1D-4163-81D3-632659C3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학습 목표: Spring의 핵심 흐름을 직접 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18AF3-48C9-464A-9E64-FEEF24D6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BFD97-CB54-4EEC-A47D-553E4309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7AB16-2A28-4620-8C9B-FC60CF45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D66AB-563E-4DB6-9C12-D7B4492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7196F-EBFA-4985-AAE4-9CBA5162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430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REST API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EB979-770D-49B0-A95F-2F410DC9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요청/응답 DTO, Controller, 공통 응답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5DB82-4DD5-4317-BC3C-96DE7974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CC513-A902-4C4C-8193-A38D4BCD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10D1E-0338-4ABC-A88F-AA9B1464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Spring Security + JWT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F3EEF-B90E-4082-8A99-155B228A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Access/Refresh Token, 인증 필터, 보호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1028A-A81D-40EC-B645-388D5656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6EBF3-5BEE-4370-870B-235089A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C0902-F3A4-4F64-8380-9E459DD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28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JPA 도메인 설계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9CDF-EBA8-446B-B01F-D68C2102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User, Account, Stock, Holding, Trade 관계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BB702-3DEC-4833-910D-3A69DA54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E793B-1FCA-4817-9E7B-6A24F980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DA97E-46F1-470E-911A-782B7C9C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71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거래 정합성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E711B-6ED6-484E-923C-7885B1D5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195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잔고, 보유 수량, 거래 내역을 한 번에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A5366-8BE7-4D26-92E4-0A331267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C1DF7-48EF-4C9D-AF6E-9C2F7A5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0471C-92C9-4AC2-94E4-FCCEF252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트랜잭션 처리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B5844-0514-4FDD-8B49-9CD2D37B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625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@Transactional과 계좌 단위 락으로 동시성 제어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2B7486-45D7-46F5-A2EB-911AEEA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34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D475D-06E6-4194-8EC2-2A7A679C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9600"/>
            <a:ext cx="2952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A7DEF-C235-46C2-8AF6-0ACF4BF3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10100"/>
            <a:ext cx="2533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@RestController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@Service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@Repository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@Transactional</a:t>
            </a:r>
          </a:p>
        </p:txBody>
      </p:sp>
    </p:spTree>
    <p:extLst>
      <p:ext uri="{BB962C8B-B14F-4D97-AF65-F5344CB8AC3E}">
        <p14:creationId xmlns:p14="http://schemas.microsoft.com/office/powerpoint/2010/main" val="1754841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19715B-BF89-4FE0-95F8-60F01850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프로젝트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2D99B-E98D-442B-A129-EF23A2B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프로젝트 구조: 계층과 관심사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F168C-84AC-43BE-81F6-3111690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6AEE7-B368-4867-8741-A9263E95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30FBD-BF6E-4424-A7BB-5826A8C6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04DE9-F1FF-4979-ACF3-A653DC09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요청은 Controller에서 시작해 Service의 비즈니스 로직을 거쳐 Repository/JPA로 저장됩니다.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36379-47A5-4254-8170-8C642C7D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74879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833DB-071A-4EF7-883D-81E0A40C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5201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FEC9A-8DD0-4EBB-879A-457B7C1B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" y="23812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2B336-7F24-4A90-9A2C-A73A2757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2209800"/>
            <a:ext cx="174879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E487A-1530-4D16-AC3F-D1176EA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140" y="2381250"/>
            <a:ext cx="15201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C99E5-38B9-40D2-BDD6-454CB9E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630" y="23812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6C94F-FE13-4DDF-BDF9-C108A7D2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2209800"/>
            <a:ext cx="174879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C3825-B77D-4681-9621-9A5D429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4380" y="2381250"/>
            <a:ext cx="15201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7FFC5-6648-4EDF-AA47-F71193F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8870" y="23812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684DB-B319-49B8-9C6F-2B915648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2209800"/>
            <a:ext cx="174879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61427-C521-4B7B-8579-421DCA3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620" y="2381250"/>
            <a:ext cx="15201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A556A-9C00-41DB-88EE-97FC2F1E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110" y="238125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E5B19-7BB9-4F56-9A3C-98FEEAE3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560" y="2209800"/>
            <a:ext cx="174879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5F175-8581-4509-8238-EF859ADD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60" y="2381250"/>
            <a:ext cx="15201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BD7821-CFB6-44C2-A6C3-08D3AF2C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8102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458041-999C-4122-B258-83D4BA37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53911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org.example.virtuber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├─ auth      JWT 인증/토큰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├─ account   계좌 조회/초기화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├─ stock     종목/가격 스케줄러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├─ trade     매수·매도·보유·거래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├─ security  Security 설정/필터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└─ common    응답/예외/에러코드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5AC8B-A591-4102-AC1C-F5B1B1B7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44767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E92D5-D479-42A9-B5DB-8AC82E7A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구현에서 복습한 Spring 원리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01498-E374-4647-88AF-9DAF57BB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3695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Bean 주입과 계층 간 의존 방향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Security FilterChain과 인증 객체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JPA Entity 변경 감지와 Repository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서비스 메서드 단위 트랜잭션 경계</a:t>
            </a:r>
          </a:p>
        </p:txBody>
      </p:sp>
    </p:spTree>
    <p:extLst>
      <p:ext uri="{BB962C8B-B14F-4D97-AF65-F5344CB8AC3E}">
        <p14:creationId xmlns:p14="http://schemas.microsoft.com/office/powerpoint/2010/main" val="12289462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0A56B-710A-4461-AB5A-72B42971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3. 주요 기능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65DCF-E242-45D1-92C0-47ACFF57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주요 기능: MVP 흐름을 작게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6D3C6-E0DD-4840-9176-33F7F04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A8E7F-654C-44C6-AD16-CCD7A97E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29EFB-2BE4-4492-80B2-9CF4487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23560-AECB-44E1-9824-34A1D09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FC463-8875-4557-AF84-C3DD720D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66E94-F713-409F-9304-9C8A333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1828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D438F-FA48-4559-9FEA-BB3E0BB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6573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BF09A-9F16-4A3B-AF4B-F3473AAF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18288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55B9A-9F50-4D68-9ED6-9EED06CD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30" y="1828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06CE6-C0F2-4312-9C27-9967292E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16573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49293-69B4-4080-A5ED-6DC6831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8288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주식 조회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39856-9EE5-432D-A371-EBE202B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1828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EA82A-18B5-42E0-A644-7D73F755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16573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018C2-3CBB-4F58-8A7F-C907F2BA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18288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매수/매도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0FF8-2E0B-4BE5-8FBB-E649B734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1828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89902-4EB2-445C-9C07-2097B5B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60" y="16573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02BEA-4974-4C06-8878-356530C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660" y="18288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계좌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01F48-84F0-4B8A-94C6-158B26F2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362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21B76-6A1B-4B45-B7C7-F5C76CD6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1F63C-E651-4E6F-8204-5A2F75A3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385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토큰 재발급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로그아웃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A6491-CED8-4E96-9B34-98FBB40F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2362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4FE840-F431-461B-B64F-556DA6BA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계좌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F6CFD-FA78-451D-8648-86C0CB21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6385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계좌 자동 생성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시드머니 지급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내 계좌 조회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계좌 초기화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66529-5CA6-4D12-944A-57755AD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2362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A84EFC-EDC3-4F0B-A37E-6FB03A45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거래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9E7596-09E8-45F7-AE2A-D966C5C4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매수/매도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거래 내역 저장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실현손익 기록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평균 매입가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485873-9970-4A19-BFCB-DAFDCFE3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38450"/>
            <a:ext cx="2362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AB5C6-1791-430F-862B-E3C45D86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지원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0DDD34-28FA-4BAF-ACAC-83BAA16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38550"/>
            <a:ext cx="180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초기 종목 데이터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주가 변동 스케줄러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Swagger UI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간단한 프론트엔드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EC0FDB-FE83-428E-BDD1-5BF232C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 판단: 기능을 늘리기보다 인증, 계층, 영속성, 트랜잭션을 끝까지 연결하는 데 집중</a:t>
            </a:r>
          </a:p>
        </p:txBody>
      </p:sp>
    </p:spTree>
    <p:extLst>
      <p:ext uri="{BB962C8B-B14F-4D97-AF65-F5344CB8AC3E}">
        <p14:creationId xmlns:p14="http://schemas.microsoft.com/office/powerpoint/2010/main" val="1992517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6DC0A3-DF65-4ADA-98E1-0792424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4. 주가 데이터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BFAD-4B29-4573-8EB9-8042922F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주가 데이터: 목 데이터와 Scheduler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1E032-2BB2-4EDC-A0D7-A911EE16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D2385-3BC2-4479-A217-CB8BC65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DDF68-6F8C-446E-98B4-405A8C94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F6148-3DC4-4779-9CE7-9522D361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실제 주식 API 대신 data.sql 목 데이터를 사용하고, 10초마다 현재가를 랜덤 변동합니다.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4762500" cy="28956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587500"/>
                <a:gridCol w="1587500"/>
                <a:gridCol w="1587500"/>
              </a:tblGrid>
              <a:tr h="413657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 코드</a:t>
                      </a:r>
                    </a:p>
                  </a:txBody>
                  <a:tcPr marL="91440" marR="91440" marT="45720" marB="4572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종목명</a:t>
                      </a:r>
                    </a:p>
                  </a:txBody>
                  <a:tcPr marL="91440" marR="91440" marT="45720" marB="45720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현재가</a:t>
                      </a:r>
                    </a:p>
                  </a:txBody>
                  <a:tcPr marL="91440" marR="91440" marT="45720" marB="45720">
                    <a:solidFill>
                      <a:srgbClr val="2E7D32"/>
                    </a:solidFill>
                  </a:tcPr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005930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삼성전자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78,000</a:t>
                      </a:r>
                    </a:p>
                  </a:txBody>
                  <a:tcPr marL="91440" marR="91440" marT="45720" marB="45720"/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000660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SK하이닉스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180,000</a:t>
                      </a:r>
                    </a:p>
                  </a:txBody>
                  <a:tcPr marL="91440" marR="91440" marT="45720" marB="45720"/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035420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180,000</a:t>
                      </a:r>
                    </a:p>
                  </a:txBody>
                  <a:tcPr marL="91440" marR="91440" marT="45720" marB="45720"/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035720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카카오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45,000</a:t>
                      </a:r>
                    </a:p>
                  </a:txBody>
                  <a:tcPr marL="91440" marR="91440" marT="45720" marB="45720"/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005380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현대차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250,000</a:t>
                      </a:r>
                    </a:p>
                  </a:txBody>
                  <a:tcPr marL="91440" marR="91440" marT="45720" marB="45720"/>
                </a:tc>
              </a:tr>
              <a:tr h="413657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373220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LG에너지솔루션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350,000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6E2DA-B6C2-4F60-8AC2-053C1A09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533400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FC4BE-D9AD-4D1D-94FF-6DBF6C17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가격 변동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F9339-D8ED-4965-A0AB-6C02382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9906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D68C7-6078-4A85-B015-B81A6CFB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스케줄러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24244-7792-43F9-AEAE-D49242E2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88459-B02C-4C94-B0B5-4698A397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81350"/>
            <a:ext cx="9906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5E3A3-FC91-4D3A-B052-79A7D5F3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52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현재가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F0363-7941-4F16-8FF9-1F9B074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E8A38-DC58-4179-BBB8-BDF396D3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9906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D7A36-09D0-48F2-BC7B-6A80CA01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Stock 갱신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D1B5C-23E7-4487-8802-A62196E5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CAA77-3CAF-4250-BB19-527ED05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81350"/>
            <a:ext cx="9906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3F9C5-3FB6-4AE4-92D9-0E970218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528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History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83CD4-F1BD-4121-B9BF-3389EBE4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4476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C095E-6DF8-4FF4-8AE6-9CE64444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4057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stock.price-update: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fixed-delay-ms: 10000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initial-delay-ms: 5000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min-rate: -0.01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max-rate: 0.01</a:t>
            </a:r>
          </a:p>
        </p:txBody>
      </p:sp>
    </p:spTree>
    <p:extLst>
      <p:ext uri="{BB962C8B-B14F-4D97-AF65-F5344CB8AC3E}">
        <p14:creationId xmlns:p14="http://schemas.microsoft.com/office/powerpoint/2010/main" val="308810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3AA86-D2FA-4025-9BAE-C5F12E6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5. 인증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45EB1-45DB-4F3C-AAFC-9A9686B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인증 방식: Spring Security + JWT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1EEC9-4503-4620-97B0-D4E11519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453E1-CD72-4E18-90C1-83167B5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043DD-4004-491F-A410-8A6AE97C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3FEBD-4369-49C0-9B30-219E189D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로그인 성공 시 Access Token과 Refresh Token을 발급하고, 보호 API는 Bearer Token으로 접근합니다.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79277-85F9-4A07-AD7C-3F672A83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2F626-3BFF-483D-904C-E22F5F17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Signin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F6154-040E-4C54-A52A-C530209A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840" y="2438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44986-6D90-4FA9-8586-7A4C7A88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22669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272CE-C3AF-4FEB-AC49-A7477246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590" y="24384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A5869-515F-44B0-B55B-30453816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530" y="2438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9456A-05FC-4B5C-BAFC-2AF1430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22669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43032-F252-487F-AF49-BE3E6A44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24384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517663-026E-4CBC-844D-3E83D175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2438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AA7FD2-6A28-4324-B236-0F45D119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22669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FCBA2-DBE5-4049-BBDD-8EA94B80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24384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JWT Filter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8F454B-6393-4F8F-8BA4-3453BEFD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4910" y="2438400"/>
            <a:ext cx="17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5C463-2E9E-4E86-A93C-A39E9DBA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60" y="2266950"/>
            <a:ext cx="192024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EC85F-3225-4315-9699-2D3A906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660" y="2438400"/>
            <a:ext cx="16916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Authentication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EFF92-B725-4FE6-B917-DCEAE06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953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CFD89-3E64-4659-A506-C91BDFB5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보호되는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AF864E-A43A-4664-9820-D11866AA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00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GET /api/v1/accounts/me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PUT /api/v1/accounts/me/init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POST /api/v1/trades/buy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POST /api/v1/trades/sell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GET /api/v1/trades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EFD59-C839-42ED-9ED0-0C65A1FF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DB5C1-2101-47E2-9866-87A5CD2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4533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Authorization: Bearer {accessToken}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principal = user.getId()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클라이언트 userId는 신뢰하지 않음</a:t>
            </a:r>
          </a:p>
        </p:txBody>
      </p:sp>
    </p:spTree>
    <p:extLst>
      <p:ext uri="{BB962C8B-B14F-4D97-AF65-F5344CB8AC3E}">
        <p14:creationId xmlns:p14="http://schemas.microsoft.com/office/powerpoint/2010/main" val="2143998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05BF0-8846-4599-B18C-D3E9A1FD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6. 도메인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1CB78-894B-4460-AD2C-A0B6484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도메인 모델: JPA 관계로 투자 상태 표현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85047-A3FA-49B1-8A00-50B773F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5FC-C681-4FC8-B6CF-1C3DD544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725CA-FE3A-4DCC-B1AD-B2391878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A37A1-1506-46C4-B95A-E1435F7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2C81B-C925-414E-B14B-3B3E32D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9333D-A15F-4EDB-B816-749AFAD7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3DAA8-11BE-40E7-AB37-D3DC652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431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Account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834E3-FEB4-4025-BD1D-1450076D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6009E-6768-45DB-B98E-B474A691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Holding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DF071-C664-4EF7-A237-3014208B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EEDEC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DC165-CF5D-4BD9-BB84-662F4AC4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Trade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2E9BA-D819-4063-A122-30E5950B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BE759-2A55-4DA0-BDF1-C5A3F3ED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Stock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FD9A63-8267-4218-9536-80D610A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2430A-54A1-4BE7-8F44-5C16F949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RefreshToken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04CAF8-5465-4FC6-90E5-C394AF2C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38600"/>
            <a:ext cx="20002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243A0-D918-4308-9A66-AF2AD99C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StockPrice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40E48-57DA-4178-9654-DF88489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241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1:1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28EA2-AD03-4FFB-AAC9-31D10B05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47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C6799-5AF7-4637-9F61-A817AA2B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671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A9181-B097-4A80-A45C-CFCF0EB6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N:1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0F32F-137A-4E3B-A475-4264822F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671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N:1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FA72C-E974-4505-BCD8-FAC302E0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291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56DDC-09CC-4144-878C-20AE4609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909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1:N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E141A5-783B-48C3-9C8F-A77C3529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76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42A273-1F3F-4258-9428-B676688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145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3087D-323D-4936-81DD-3B304573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CAD38-2637-4E03-8D80-48C0AD69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27C3CE-ADAC-4497-AC95-A9A33D4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1AA473-BEB7-403F-8416-CD27F17E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BB8A71-9C86-4E63-A50C-8B41645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5750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1F2A80-AFCA-4465-A16B-0DF04FA1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72C39D-F6B8-4BC5-9B07-330B84D5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29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Account가 거래의 기준점이며, Holding은 현재 상태, Trade는 변경 이력을 담당합니다.</a:t>
            </a:r>
          </a:p>
        </p:txBody>
      </p:sp>
    </p:spTree>
    <p:extLst>
      <p:ext uri="{BB962C8B-B14F-4D97-AF65-F5344CB8AC3E}">
        <p14:creationId xmlns:p14="http://schemas.microsoft.com/office/powerpoint/2010/main" val="340943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7E00A-7768-43B8-B4EB-E80BCEA7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7. API 설계 및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F9313-321F-41B3-8BA9-8826694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API 설계: 공통 응답과 10개 엔드포인트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FE439-112E-4545-88DD-C9B957F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835C0-7BE9-4B84-85BB-DB997DCA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67CB4-1BBC-4E63-A5E2-34B334EB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6286500" cy="4114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876300"/>
                <a:gridCol w="3257550"/>
                <a:gridCol w="2152650"/>
              </a:tblGrid>
              <a:tr h="37407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/api/v1/auth/signup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회원가입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/api/v1/auth/signin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/api/v1/auth/reissue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토큰 재발급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/api/v1/auth/signout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로그아웃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/api/v1/accounts/me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계좌 조회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/api/v1/accounts/me/init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계좌 초기화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/api/v1/stocks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주식 목록 조회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/api/v1/trades/buy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매수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/api/v1/trades/sell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매도</a:t>
                      </a:r>
                    </a:p>
                  </a:txBody>
                  <a:tcPr marL="91440" marR="91440" marT="45720" marB="45720"/>
                </a:tc>
              </a:tr>
              <a:tr h="37407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/api/v1/trades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 내역 조회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F39D9-1C6C-4786-BF1E-E792C041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38862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0C1E7F-A8D1-45E8-B6DB-4F4677E6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3467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class ApiResponse&lt;T&gt; 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boolean success;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T data;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String message;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ErrorResponse error;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LocalDateTime timestamp;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CD9EE-F56C-4DCD-9120-4A2DDDF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7150"/>
            <a:ext cx="38862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36FF5-F8CE-4795-A7CE-9928FE7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14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설계 포인트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27214-DDB4-4196-8A81-8653F5D2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성공/실패 응답 구조 통일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Validation 오류는 details에 필드별 사유 제공</a:t>
            </a:r>
          </a:p>
          <a:p xmlns:a="http://schemas.openxmlformats.org/drawingml/2006/main">
            <a:pPr marL="22" indent="-14">
              <a:lnSpc>
                <a:spcPct val="110000"/>
              </a:lnSpc>
              <a:spcAft>
                <a:spcPts val="8"/>
              </a:spcAft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Swagger UI로 API 시연과 문서 확인</a:t>
            </a:r>
          </a:p>
        </p:txBody>
      </p:sp>
    </p:spTree>
    <p:extLst>
      <p:ext uri="{BB962C8B-B14F-4D97-AF65-F5344CB8AC3E}">
        <p14:creationId xmlns:p14="http://schemas.microsoft.com/office/powerpoint/2010/main" val="489433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DE38D-BD3C-4327-BD13-FE4C8C1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8. 정합성 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6355A-6C33-4F2E-B9E1-3A123E20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정합성 처리: 트랜잭션과 계좌 단위 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1C52B-F5C6-45E3-B361-F8C3C67A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07B83-137A-4DB7-ACE7-1B9DCE7A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DAEC8-C029-4DBC-802F-03C35C0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8BEC6-C565-438E-98A4-08A64B4D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매수, 매도, 계좌 초기화는 모두 하나의 트랜잭션으로 처리하여 일부만 반영되는 상태를 막습니다.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725B6-F761-4906-A46A-3E1CB2B9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매수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9900C-0E05-49DD-B237-F2BB0E94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66950"/>
            <a:ext cx="8667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71556-4A4B-4854-9CF7-E78F2285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76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계좌 락 → 종목 조회 → 현금 차감 → Holding 생성/수정 → Trade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F6EE1-E090-4C8F-B715-748A34C5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매도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C8C4CF-B0F7-46C5-8B98-8EDE90D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76600"/>
            <a:ext cx="8667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C0EB4-CFA1-4B34-BBAD-E2C4047B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계좌 락 → 보유 수량 검증 → 현금 증가 → Trade 저장 → 0주면 Holding 삭제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D4CD3-B9BD-4098-B8BC-76130821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초기화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9EFFC-A952-474B-BA87-221C3A36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86250"/>
            <a:ext cx="8667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B984-AE4D-4786-856C-223C0CB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95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비밀번호 검증 → 계좌 락 → Holding 삭제 → Trade 삭제 → 시드머니 복구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4FC19-C0AC-467C-A4B2-43FABD7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914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8EBAA-5F04-408E-A4C5-BB9EAFE6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48300"/>
            <a:ext cx="872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@Lock(PESSIMISTIC_WRITE)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@Query("select a from Account a where a.user.id = :userId")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Optional&lt;Account&gt; findByUserIdForUpdate(Long userId);</a:t>
            </a:r>
          </a:p>
        </p:txBody>
      </p:sp>
    </p:spTree>
    <p:extLst>
      <p:ext uri="{BB962C8B-B14F-4D97-AF65-F5344CB8AC3E}">
        <p14:creationId xmlns:p14="http://schemas.microsoft.com/office/powerpoint/2010/main" val="1356831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19498-8060-49A5-B3F6-D25ABCC8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5041-102E-4C74-AF6D-F3275B2F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정리: 작은 MVP로 Spring 기본기를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EBABC-4538-4213-AF81-7D9798C8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44975-104A-46DA-9BA6-D7D2EF2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8A8F88"/>
                </a:solidFill>
                <a:latin typeface="Malgun Gothic"/>
                <a:ea typeface="Malgun Gothic"/>
                <a:cs typeface="Malgun Gothic"/>
              </a:rPr>
              <a:t>Virtuber · Spring 기본 원리 복습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CC5F9-A996-4E03-B124-8213B744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D726C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FC612-43D5-4CBD-ACC5-EFC5C590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 프로젝트의 가치는 기능의 양보다 Spring의 기본 원리를 실제 흐름으로 확인했다는 점입니다.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E53F0-96C9-40C2-9E6B-C8209AC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계층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FCFDF-892B-4C3A-B467-E5DDAE12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14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Controller-Service-Repository 책임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CA0A8-9FA5-45AB-9541-B6914060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07A95-0632-49B6-83F0-9895823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76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보안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323E3-902C-46B5-A560-FC847B3F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14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Security Filter와 JWT 인증 객체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C2466-9B0C-463F-9948-48124F65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718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CCD69-E7DB-4E5D-9766-8A9918FF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영속성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18849-8CE5-4EFB-A638-BD420C8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JPA 엔티티 관계와 변경 감지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FFFDF-1BA3-4E3D-949A-3AE0C7A9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7C43E-A05F-48E2-B14F-28326B31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트랜잭션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947B3-A552-4D30-96B4-511558E5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거래 처리의 원자성과 롤백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DF842-F0BF-495B-B0A8-37D639A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624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3BE6C-2827-4485-8CE3-7F25CD9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동시성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559F7-CE77-48F3-A4EB-AFD878ED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비관적 락으로 잔고/수량 보호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9502F-39EA-42DD-8272-A8309E8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FF919-26A7-4F2C-9692-8AA07D72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57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운영 보조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11060-1794-4CEA-ACF7-77504442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75C60"/>
                </a:solidFill>
                <a:latin typeface="Malgun Gothic"/>
                <a:ea typeface="Malgun Gothic"/>
                <a:cs typeface="Malgun Gothic"/>
              </a:rPr>
              <a:t>Scheduler, Swagger, 테스트 자동화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2D82CD-53C9-413A-87B4-8F922B84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49130-FD99-4E33-A9C9-77A9E83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확장 후보: 실제 주식 API 연동, 주문 유형 확장, 수익률 랭킹, 프론트엔드 고도화</a:t>
            </a:r>
          </a:p>
        </p:txBody>
      </p:sp>
    </p:spTree>
    <p:extLst>
      <p:ext uri="{BB962C8B-B14F-4D97-AF65-F5344CB8AC3E}">
        <p14:creationId xmlns:p14="http://schemas.microsoft.com/office/powerpoint/2010/main" val="262730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2026-06-22T07:32:31.4190000Z</dcterms:created>
  <dcterms:modified xsi:type="dcterms:W3CDTF">2026-06-22T07:32:31.4190000Z</dcterms:modified>
</coreProperties>
</file>